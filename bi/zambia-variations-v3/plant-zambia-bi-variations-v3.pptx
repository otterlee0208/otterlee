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D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symbol" descr="/tmp/claude-0/-home-user-otterlee/54e04198-701a-58c9-b487-eea2ac6d4846/scratchpad/out2/2_mono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474720" y="1188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아이덴티티 · 심볼 변형안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3474720" y="2286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 하나, 나무 한 그루, 한 사람 — 더 자연스럽고 자유로운 점으로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474720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3D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(사)산과자연의친구 · 2026. 10 · v3 (피드백 반영 4안)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피드백과 수정 방향</a:t>
            </a:r>
            <a:endParaRPr lang="en-US" sz="2000" dirty="0"/>
          </a:p>
        </p:txBody>
      </p:sp>
      <p:pic>
        <p:nvPicPr>
          <p:cNvPr id="3" name="v2 symbol" descr="/tmp/claude-0/-home-user-otterlee/54e04198-701a-58c9-b487-eea2ac6d4846/scratchpad/in/x/ppt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기존(v2) — 격자 배열</a:t>
            </a:r>
            <a:endParaRPr lang="en-US" sz="1100" dirty="0"/>
          </a:p>
        </p:txBody>
      </p:sp>
      <p:sp>
        <p:nvSpPr>
          <p:cNvPr id="5" name="card 유지"/>
          <p:cNvSpPr/>
          <p:nvPr/>
        </p:nvSpPr>
        <p:spPr>
          <a:xfrm>
            <a:off x="3840480" y="109728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02336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097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 하나가 나무 한 그루, 한 사람이라는 컨셉</a:t>
            </a:r>
            <a:endParaRPr lang="en-US" sz="1300" dirty="0"/>
          </a:p>
        </p:txBody>
      </p:sp>
      <p:sp>
        <p:nvSpPr>
          <p:cNvPr id="8" name="card 문제"/>
          <p:cNvSpPr/>
          <p:nvPr/>
        </p:nvSpPr>
        <p:spPr>
          <a:xfrm>
            <a:off x="3840480" y="196596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233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965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점을 도식적으로 줄 세워서 교통표지판처럼 읽힐 수 있음</a:t>
            </a:r>
            <a:endParaRPr lang="en-US" sz="1300" dirty="0"/>
          </a:p>
        </p:txBody>
      </p:sp>
      <p:sp>
        <p:nvSpPr>
          <p:cNvPr id="11" name="card 수정"/>
          <p:cNvSpPr/>
          <p:nvPr/>
        </p:nvSpPr>
        <p:spPr>
          <a:xfrm>
            <a:off x="3840480" y="283464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2336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834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점의 크기를 다양하게, 배열은 자연스럽고 불규칙하게</a:t>
            </a:r>
            <a:endParaRPr lang="en-US" sz="1300" dirty="0"/>
          </a:p>
        </p:txBody>
      </p:sp>
      <p:sp>
        <p:nvSpPr>
          <p:cNvPr id="14" name="card 방식"/>
          <p:cNvSpPr/>
          <p:nvPr/>
        </p:nvSpPr>
        <p:spPr>
          <a:xfrm>
            <a:off x="3840480" y="370332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2336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변형을 만들어 나중에 택일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변형안 한눈에 보기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가로형 로고의 글자는 v2와 같습니다. 심볼만 바꿨습니다.</a:t>
            </a:r>
            <a:endParaRPr lang="en-US" sz="1200" dirty="0"/>
          </a:p>
        </p:txBody>
      </p:sp>
      <p:pic>
        <p:nvPicPr>
          <p:cNvPr id="4" name="overview 1" descr="/tmp/claude-0/-home-user-otterlee/54e04198-701a-58c9-b487-eea2ac6d4846/scratchpad/out2/1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1안  살짝 풀기</a:t>
            </a:r>
            <a:endParaRPr lang="en-US" sz="1200" dirty="0"/>
          </a:p>
        </p:txBody>
      </p:sp>
      <p:pic>
        <p:nvPicPr>
          <p:cNvPr id="6" name="overview 2" descr="/tmp/claude-0/-home-user-otterlee/54e04198-701a-58c9-b487-eea2ac6d4846/scratchpad/out2/2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2안  크기 다양</a:t>
            </a:r>
            <a:endParaRPr lang="en-US" sz="1200" dirty="0"/>
          </a:p>
        </p:txBody>
      </p:sp>
      <p:pic>
        <p:nvPicPr>
          <p:cNvPr id="8" name="overview 3" descr="/tmp/claude-0/-home-user-otterlee/54e04198-701a-58c9-b487-eea2ac6d4846/scratchpad/out2/3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71600"/>
            <a:ext cx="1828800" cy="1828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 흩날림</a:t>
            </a:r>
            <a:endParaRPr lang="en-US" sz="1200" dirty="0"/>
          </a:p>
        </p:txBody>
      </p:sp>
      <p:pic>
        <p:nvPicPr>
          <p:cNvPr id="10" name="overview 4" descr="/tmp/claude-0/-home-user-otterlee/54e04198-701a-58c9-b487-eea2ac6d4846/scratchpad/out2/4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371600"/>
            <a:ext cx="1828800" cy="18288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665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4안  나무와 숲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v2(왼쪽 원본)보다 점의 크기와 위치가 자유롭지만, 나무 모양은 알아볼 수 있게 유지했습니다.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1안 — 살짝 풀기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v2의 나무 모양은 그대로, 점의 위치와 크기만 조금씩 흩트렸습니다.</a:t>
            </a:r>
            <a:endParaRPr lang="en-US" sz="1200" dirty="0"/>
          </a:p>
        </p:txBody>
      </p:sp>
      <p:pic>
        <p:nvPicPr>
          <p:cNvPr id="4" name="1 green" descr="/tmp/claude-0/-home-user-otterlee/54e04198-701a-58c9-b487-eea2ac6d4846/scratchpad/out2/1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2926080"/>
          </a:xfrm>
          <a:prstGeom prst="rect">
            <a:avLst/>
          </a:prstGeom>
        </p:spPr>
      </p:pic>
      <p:pic>
        <p:nvPicPr>
          <p:cNvPr id="5" name="1 white" descr="/tmp/claude-0/-home-user-otterlee/54e04198-701a-58c9-b487-eea2ac6d4846/scratchpad/out2/1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88720"/>
            <a:ext cx="1463040" cy="1463040"/>
          </a:xfrm>
          <a:prstGeom prst="rect">
            <a:avLst/>
          </a:prstGeom>
        </p:spPr>
      </p:pic>
      <p:pic>
        <p:nvPicPr>
          <p:cNvPr id="6" name="1 lockup" descr="/tmp/claude-0/-home-user-otterlee/54e04198-701a-58c9-b487-eea2ac6d4846/scratchpad/out2/1_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3474720" cy="1411834"/>
          </a:xfrm>
          <a:prstGeom prst="rect">
            <a:avLst/>
          </a:prstGeom>
        </p:spPr>
      </p:pic>
      <p:pic>
        <p:nvPicPr>
          <p:cNvPr id="7" name="1 size0" descr="/tmp/claude-0/-home-user-otterlee/54e04198-701a-58c9-b487-eea2ac6d4846/scratchpad/out2/1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63240"/>
            <a:ext cx="274320" cy="274320"/>
          </a:xfrm>
          <a:prstGeom prst="rect">
            <a:avLst/>
          </a:prstGeom>
        </p:spPr>
      </p:pic>
      <p:pic>
        <p:nvPicPr>
          <p:cNvPr id="8" name="1 size1" descr="/tmp/claude-0/-home-user-otterlee/54e04198-701a-58c9-b487-eea2ac6d4846/scratchpad/out2/1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994660"/>
            <a:ext cx="411480" cy="411480"/>
          </a:xfrm>
          <a:prstGeom prst="rect">
            <a:avLst/>
          </a:prstGeom>
        </p:spPr>
      </p:pic>
      <p:pic>
        <p:nvPicPr>
          <p:cNvPr id="9" name="1 size2" descr="/tmp/claude-0/-home-user-otterlee/54e04198-701a-58c9-b487-eea2ac6d4846/scratchpad/out2/1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880360"/>
            <a:ext cx="640080" cy="64008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3566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 확인</a:t>
            </a:r>
            <a:endParaRPr lang="en-US" sz="1000" dirty="0"/>
          </a:p>
        </p:txBody>
      </p:sp>
      <p:sp>
        <p:nvSpPr>
          <p:cNvPr id="11" name="note card"/>
          <p:cNvSpPr/>
          <p:nvPr/>
        </p:nvSpPr>
        <p:spPr>
          <a:xfrm>
            <a:off x="5212080" y="2880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5394960" y="28803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안전한 안. 점 25개로 기존 심볼의 인상을 그대로 이어갑니다.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2안 — 크기 다양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마름모 실루엣 안에서 큰 점과 작은 점을 섞었습니다.</a:t>
            </a:r>
            <a:endParaRPr lang="en-US" sz="1200" dirty="0"/>
          </a:p>
        </p:txBody>
      </p:sp>
      <p:pic>
        <p:nvPicPr>
          <p:cNvPr id="4" name="2 green" descr="/tmp/claude-0/-home-user-otterlee/54e04198-701a-58c9-b487-eea2ac6d4846/scratchpad/out2/2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2926080"/>
          </a:xfrm>
          <a:prstGeom prst="rect">
            <a:avLst/>
          </a:prstGeom>
        </p:spPr>
      </p:pic>
      <p:pic>
        <p:nvPicPr>
          <p:cNvPr id="5" name="2 white" descr="/tmp/claude-0/-home-user-otterlee/54e04198-701a-58c9-b487-eea2ac6d4846/scratchpad/out2/2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88720"/>
            <a:ext cx="1463040" cy="1463040"/>
          </a:xfrm>
          <a:prstGeom prst="rect">
            <a:avLst/>
          </a:prstGeom>
        </p:spPr>
      </p:pic>
      <p:pic>
        <p:nvPicPr>
          <p:cNvPr id="6" name="2 lockup" descr="/tmp/claude-0/-home-user-otterlee/54e04198-701a-58c9-b487-eea2ac6d4846/scratchpad/out2/2_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3474720" cy="1411834"/>
          </a:xfrm>
          <a:prstGeom prst="rect">
            <a:avLst/>
          </a:prstGeom>
        </p:spPr>
      </p:pic>
      <p:pic>
        <p:nvPicPr>
          <p:cNvPr id="7" name="2 size0" descr="/tmp/claude-0/-home-user-otterlee/54e04198-701a-58c9-b487-eea2ac6d4846/scratchpad/out2/2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63240"/>
            <a:ext cx="274320" cy="274320"/>
          </a:xfrm>
          <a:prstGeom prst="rect">
            <a:avLst/>
          </a:prstGeom>
        </p:spPr>
      </p:pic>
      <p:pic>
        <p:nvPicPr>
          <p:cNvPr id="8" name="2 size1" descr="/tmp/claude-0/-home-user-otterlee/54e04198-701a-58c9-b487-eea2ac6d4846/scratchpad/out2/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994660"/>
            <a:ext cx="411480" cy="411480"/>
          </a:xfrm>
          <a:prstGeom prst="rect">
            <a:avLst/>
          </a:prstGeom>
        </p:spPr>
      </p:pic>
      <p:pic>
        <p:nvPicPr>
          <p:cNvPr id="9" name="2 size2" descr="/tmp/claude-0/-home-user-otterlee/54e04198-701a-58c9-b487-eea2ac6d4846/scratchpad/out2/2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880360"/>
            <a:ext cx="640080" cy="64008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3566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 확인</a:t>
            </a:r>
            <a:endParaRPr lang="en-US" sz="1000" dirty="0"/>
          </a:p>
        </p:txBody>
      </p:sp>
      <p:sp>
        <p:nvSpPr>
          <p:cNvPr id="11" name="note card"/>
          <p:cNvSpPr/>
          <p:nvPr/>
        </p:nvSpPr>
        <p:spPr>
          <a:xfrm>
            <a:off x="5212080" y="2880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5394960" y="28803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도식적인 느낌이 줄고 자연스럽습니다. 점 45개 안팎입니다.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— 흩날림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2안에 가장자리의 점 몇 개가 바람에 날려 떨어져 나가는 모습을 더했습니다.</a:t>
            </a:r>
            <a:endParaRPr lang="en-US" sz="1200" dirty="0"/>
          </a:p>
        </p:txBody>
      </p:sp>
      <p:pic>
        <p:nvPicPr>
          <p:cNvPr id="4" name="3 green" descr="/tmp/claude-0/-home-user-otterlee/54e04198-701a-58c9-b487-eea2ac6d4846/scratchpad/out2/3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2926080"/>
          </a:xfrm>
          <a:prstGeom prst="rect">
            <a:avLst/>
          </a:prstGeom>
        </p:spPr>
      </p:pic>
      <p:pic>
        <p:nvPicPr>
          <p:cNvPr id="5" name="3 white" descr="/tmp/claude-0/-home-user-otterlee/54e04198-701a-58c9-b487-eea2ac6d4846/scratchpad/out2/3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88720"/>
            <a:ext cx="1463040" cy="1463040"/>
          </a:xfrm>
          <a:prstGeom prst="rect">
            <a:avLst/>
          </a:prstGeom>
        </p:spPr>
      </p:pic>
      <p:pic>
        <p:nvPicPr>
          <p:cNvPr id="6" name="3 lockup" descr="/tmp/claude-0/-home-user-otterlee/54e04198-701a-58c9-b487-eea2ac6d4846/scratchpad/out2/3_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3474720" cy="1411834"/>
          </a:xfrm>
          <a:prstGeom prst="rect">
            <a:avLst/>
          </a:prstGeom>
        </p:spPr>
      </p:pic>
      <p:pic>
        <p:nvPicPr>
          <p:cNvPr id="7" name="3 size0" descr="/tmp/claude-0/-home-user-otterlee/54e04198-701a-58c9-b487-eea2ac6d4846/scratchpad/out2/3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63240"/>
            <a:ext cx="274320" cy="274320"/>
          </a:xfrm>
          <a:prstGeom prst="rect">
            <a:avLst/>
          </a:prstGeom>
        </p:spPr>
      </p:pic>
      <p:pic>
        <p:nvPicPr>
          <p:cNvPr id="8" name="3 size1" descr="/tmp/claude-0/-home-user-otterlee/54e04198-701a-58c9-b487-eea2ac6d4846/scratchpad/out2/3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994660"/>
            <a:ext cx="411480" cy="411480"/>
          </a:xfrm>
          <a:prstGeom prst="rect">
            <a:avLst/>
          </a:prstGeom>
        </p:spPr>
      </p:pic>
      <p:pic>
        <p:nvPicPr>
          <p:cNvPr id="9" name="3 size2" descr="/tmp/claude-0/-home-user-otterlee/54e04198-701a-58c9-b487-eea2ac6d4846/scratchpad/out2/3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880360"/>
            <a:ext cx="640080" cy="64008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3566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 확인</a:t>
            </a:r>
            <a:endParaRPr lang="en-US" sz="1000" dirty="0"/>
          </a:p>
        </p:txBody>
      </p:sp>
      <p:sp>
        <p:nvSpPr>
          <p:cNvPr id="11" name="note card"/>
          <p:cNvSpPr/>
          <p:nvPr/>
        </p:nvSpPr>
        <p:spPr>
          <a:xfrm>
            <a:off x="5212080" y="2880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5394960" y="28803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움직임과 확산의 느낌. 점이 퍼져가는 캠페인의 성격과 맞습니다.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4안 — 나무와 숲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모양의 나무 세 그루. 큰 나무 하나와 작은 나무 둘이 모여 숲이 됩니다.</a:t>
            </a:r>
            <a:endParaRPr lang="en-US" sz="1200" dirty="0"/>
          </a:p>
        </p:txBody>
      </p:sp>
      <p:pic>
        <p:nvPicPr>
          <p:cNvPr id="4" name="4 green" descr="/tmp/claude-0/-home-user-otterlee/54e04198-701a-58c9-b487-eea2ac6d4846/scratchpad/out2/4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2926080"/>
          </a:xfrm>
          <a:prstGeom prst="rect">
            <a:avLst/>
          </a:prstGeom>
        </p:spPr>
      </p:pic>
      <p:pic>
        <p:nvPicPr>
          <p:cNvPr id="5" name="4 white" descr="/tmp/claude-0/-home-user-otterlee/54e04198-701a-58c9-b487-eea2ac6d4846/scratchpad/out2/4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88720"/>
            <a:ext cx="1463040" cy="1463040"/>
          </a:xfrm>
          <a:prstGeom prst="rect">
            <a:avLst/>
          </a:prstGeom>
        </p:spPr>
      </p:pic>
      <p:pic>
        <p:nvPicPr>
          <p:cNvPr id="6" name="4 lockup" descr="/tmp/claude-0/-home-user-otterlee/54e04198-701a-58c9-b487-eea2ac6d4846/scratchpad/out2/4_lock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3474720" cy="1411834"/>
          </a:xfrm>
          <a:prstGeom prst="rect">
            <a:avLst/>
          </a:prstGeom>
        </p:spPr>
      </p:pic>
      <p:pic>
        <p:nvPicPr>
          <p:cNvPr id="7" name="4 size0" descr="/tmp/claude-0/-home-user-otterlee/54e04198-701a-58c9-b487-eea2ac6d4846/scratchpad/out2/4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063240"/>
            <a:ext cx="274320" cy="274320"/>
          </a:xfrm>
          <a:prstGeom prst="rect">
            <a:avLst/>
          </a:prstGeom>
        </p:spPr>
      </p:pic>
      <p:pic>
        <p:nvPicPr>
          <p:cNvPr id="8" name="4 size1" descr="/tmp/claude-0/-home-user-otterlee/54e04198-701a-58c9-b487-eea2ac6d4846/scratchpad/out2/4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994660"/>
            <a:ext cx="411480" cy="411480"/>
          </a:xfrm>
          <a:prstGeom prst="rect">
            <a:avLst/>
          </a:prstGeom>
        </p:spPr>
      </p:pic>
      <p:pic>
        <p:nvPicPr>
          <p:cNvPr id="9" name="4 size2" descr="/tmp/claude-0/-home-user-otterlee/54e04198-701a-58c9-b487-eea2ac6d4846/scratchpad/out2/4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880360"/>
            <a:ext cx="640080" cy="64008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35661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 확인</a:t>
            </a:r>
            <a:endParaRPr lang="en-US" sz="1000" dirty="0"/>
          </a:p>
        </p:txBody>
      </p:sp>
      <p:sp>
        <p:nvSpPr>
          <p:cNvPr id="11" name="note card"/>
          <p:cNvSpPr/>
          <p:nvPr/>
        </p:nvSpPr>
        <p:spPr>
          <a:xfrm>
            <a:off x="5212080" y="2880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5394960" y="28803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나무 한 그루에서 숲으로 가는 이야기를 담습니다. 작게 줄이면 점이 뭉칠 수 있어 확인이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2000" dirty="0"/>
          </a:p>
        </p:txBody>
      </p:sp>
      <p:sp>
        <p:nvSpPr>
          <p:cNvPr id="3" name="num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2BDA5A"/>
          </a:solidFill>
          <a:ln w="12700">
            <a:solidFill>
              <a:srgbClr val="2BD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마음에 드는 안 1~2개를 골라 주세요 (섞어 쓰기도 가능합니다)</a:t>
            </a:r>
            <a:endParaRPr lang="en-US" sz="1500" dirty="0"/>
          </a:p>
        </p:txBody>
      </p:sp>
      <p:sp>
        <p:nvSpPr>
          <p:cNvPr id="6" name="num 2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2BDA5A"/>
          </a:solidFill>
          <a:ln w="12700">
            <a:solidFill>
              <a:srgbClr val="2BD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안은 점 배치를 다듬어 가로형·세로형·심볼 단독·영문형으로 확장합니다</a:t>
            </a:r>
            <a:endParaRPr lang="en-US" sz="1500" dirty="0"/>
          </a:p>
        </p:txBody>
      </p:sp>
      <p:sp>
        <p:nvSpPr>
          <p:cNvPr id="9" name="num 3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2BDA5A"/>
          </a:solidFill>
          <a:ln w="12700">
            <a:solidFill>
              <a:srgbClr val="2BD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크기에서 점이 뭉개지는지 다시 확인합니다 (심볼 10mm / 32px)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잠비아 나무심기 BI 심볼 변형안</dc:title>
  <dc:subject>PptxGenJS Presentation</dc:subject>
  <dc:creator>PptxGenJS</dc:creator>
  <cp:lastModifiedBy>PptxGenJS</cp:lastModifiedBy>
  <cp:revision>1</cp:revision>
  <dcterms:created xsi:type="dcterms:W3CDTF">2026-10-07T13:27:06Z</dcterms:created>
  <dcterms:modified xsi:type="dcterms:W3CDTF">2026-10-07T13:27:06Z</dcterms:modified>
</cp:coreProperties>
</file>
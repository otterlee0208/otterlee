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image" Target="../media/image-5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image" Target="../media/image-6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2.png"/><Relationship Id="rId5" Type="http://schemas.openxmlformats.org/officeDocument/2006/relationships/image" Target="../media/image-7-2.png"/><Relationship Id="rId6" Type="http://schemas.openxmlformats.org/officeDocument/2006/relationships/image" Target="../media/image-7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2.png"/><Relationship Id="rId5" Type="http://schemas.openxmlformats.org/officeDocument/2006/relationships/image" Target="../media/image-8-2.png"/><Relationship Id="rId6" Type="http://schemas.openxmlformats.org/officeDocument/2006/relationships/image" Target="../media/image-8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DA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symbol" descr="/tmp/claude-0/-home-user-otterlee/54e04198-701a-58c9-b487-eea2ac6d4846/scratchpad/out/A_mono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2560320" cy="2560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474720" y="1188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아이덴티티 · 심볼 변형안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3474720" y="22860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하나, 나무 한 그루, 한 사람 — 더 자연스럽고 자유로운 점으로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47472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3D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(사)산과자연의친구 · 2026. 10 · v3 (피드백 반영 5안)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피드백과 수정 방향</a:t>
            </a:r>
            <a:endParaRPr lang="en-US" sz="2000" dirty="0"/>
          </a:p>
        </p:txBody>
      </p:sp>
      <p:pic>
        <p:nvPicPr>
          <p:cNvPr id="3" name="v2 symbol" descr="/tmp/claude-0/-home-user-otterlee/54e04198-701a-58c9-b487-eea2ac6d4846/scratchpad/out/../in/x/ppt/media/image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017520" cy="3017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기존(v2) — 격자 배열</a:t>
            </a:r>
            <a:endParaRPr lang="en-US" sz="1100" dirty="0"/>
          </a:p>
        </p:txBody>
      </p:sp>
      <p:sp>
        <p:nvSpPr>
          <p:cNvPr id="5" name="card 유지"/>
          <p:cNvSpPr/>
          <p:nvPr/>
        </p:nvSpPr>
        <p:spPr>
          <a:xfrm>
            <a:off x="3840480" y="109728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023360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0972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하나가 나무 한 그루, 한 사람이라는 컨셉</a:t>
            </a:r>
            <a:endParaRPr lang="en-US" sz="1300" dirty="0"/>
          </a:p>
        </p:txBody>
      </p:sp>
      <p:sp>
        <p:nvSpPr>
          <p:cNvPr id="8" name="card 문제"/>
          <p:cNvSpPr/>
          <p:nvPr/>
        </p:nvSpPr>
        <p:spPr>
          <a:xfrm>
            <a:off x="3840480" y="196596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2336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965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점을 도식적으로 줄 세워서 교통표지판처럼 읽힐 수 있음</a:t>
            </a:r>
            <a:endParaRPr lang="en-US" sz="1300" dirty="0"/>
          </a:p>
        </p:txBody>
      </p:sp>
      <p:sp>
        <p:nvSpPr>
          <p:cNvPr id="11" name="card 수정"/>
          <p:cNvSpPr/>
          <p:nvPr/>
        </p:nvSpPr>
        <p:spPr>
          <a:xfrm>
            <a:off x="3840480" y="283464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023360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28346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점의 크기를 다양하게, 배열은 자연스럽고 불규칙하게</a:t>
            </a:r>
            <a:endParaRPr lang="en-US" sz="1300" dirty="0"/>
          </a:p>
        </p:txBody>
      </p:sp>
      <p:sp>
        <p:nvSpPr>
          <p:cNvPr id="14" name="card 방식"/>
          <p:cNvSpPr/>
          <p:nvPr/>
        </p:nvSpPr>
        <p:spPr>
          <a:xfrm>
            <a:off x="3840480" y="370332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23360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방식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37033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5가지 변형을 만들어 나중에 택일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변형안 한눈에 보기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안은 점 크기가 제각각이고 배치가 불규칙합니다. 가로형 로고의 글자는 v2와 같습니다.</a:t>
            </a:r>
            <a:endParaRPr lang="en-US" sz="1200" dirty="0"/>
          </a:p>
        </p:txBody>
      </p:sp>
      <p:pic>
        <p:nvPicPr>
          <p:cNvPr id="4" name="overview A" descr="/tmp/claude-0/-home-user-otterlee/54e04198-701a-58c9-b487-eea2ac6d4846/scratchpad/out/A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508760" cy="1508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0175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 캐노피</a:t>
            </a:r>
            <a:endParaRPr lang="en-US" sz="1200" dirty="0"/>
          </a:p>
        </p:txBody>
      </p:sp>
      <p:pic>
        <p:nvPicPr>
          <p:cNvPr id="6" name="overview B" descr="/tmp/claude-0/-home-user-otterlee/54e04198-701a-58c9-b487-eea2ac6d4846/scratchpad/out/B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71600"/>
            <a:ext cx="1508760" cy="1508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03120" y="30175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  바람에 흩날리는 숲</a:t>
            </a:r>
            <a:endParaRPr lang="en-US" sz="1200" dirty="0"/>
          </a:p>
        </p:txBody>
      </p:sp>
      <p:pic>
        <p:nvPicPr>
          <p:cNvPr id="8" name="overview C" descr="/tmp/claude-0/-home-user-otterlee/54e04198-701a-58c9-b487-eea2ac6d4846/scratchpad/out/C_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371600"/>
            <a:ext cx="1508760" cy="15087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749040" y="30175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  나무와 숲</a:t>
            </a:r>
            <a:endParaRPr lang="en-US" sz="1200" dirty="0"/>
          </a:p>
        </p:txBody>
      </p:sp>
      <p:pic>
        <p:nvPicPr>
          <p:cNvPr id="10" name="overview D" descr="/tmp/claude-0/-home-user-otterlee/54e04198-701a-58c9-b487-eea2ac6d4846/scratchpad/out/D_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371600"/>
            <a:ext cx="1508760" cy="150876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394960" y="30175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  자라는 나무</a:t>
            </a:r>
            <a:endParaRPr lang="en-US" sz="1200" dirty="0"/>
          </a:p>
        </p:txBody>
      </p:sp>
      <p:pic>
        <p:nvPicPr>
          <p:cNvPr id="12" name="overview E" descr="/tmp/claude-0/-home-user-otterlee/54e04198-701a-58c9-b487-eea2ac6d4846/scratchpad/out/E_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1371600"/>
            <a:ext cx="1508760" cy="1508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040880" y="30175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  아카시아</a:t>
            </a:r>
            <a:endParaRPr lang="en-US" sz="1200" dirty="0"/>
          </a:p>
        </p:txBody>
      </p:sp>
      <p:sp>
        <p:nvSpPr>
          <p:cNvPr id="14" name="Text 7"/>
          <p:cNvSpPr txBox="1"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 다양 · 불규칙 배치 · 가장자리는 잔점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A — 캐노피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둥근 수관. 중심은 큰 점, 가장자리는 잔점으로 흩어집니다.</a:t>
            </a:r>
            <a:endParaRPr lang="en-US" sz="1200" dirty="0"/>
          </a:p>
        </p:txBody>
      </p:sp>
      <p:pic>
        <p:nvPicPr>
          <p:cNvPr id="4" name="A green" descr="/tmp/claude-0/-home-user-otterlee/54e04198-701a-58c9-b487-eea2ac6d4846/scratchpad/out/A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A white" descr="/tmp/claude-0/-home-user-otterlee/54e04198-701a-58c9-b487-eea2ac6d4846/scratchpad/out/A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A lockup" descr="/tmp/claude-0/-home-user-otterlee/54e04198-701a-58c9-b487-eea2ac6d4846/scratchpad/out/A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A size0" descr="/tmp/claude-0/-home-user-otterlee/54e04198-701a-58c9-b487-eea2ac6d4846/scratchpad/out/A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A size1" descr="/tmp/claude-0/-home-user-otterlee/54e04198-701a-58c9-b487-eea2ac6d4846/scratchpad/out/A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A size2" descr="/tmp/claude-0/-home-user-otterlee/54e04198-701a-58c9-b487-eea2ac6d4846/scratchpad/out/A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기본에 가까운 안. 기존 심볼의 인상을 가장 많이 이어갑니다.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B — 바람에 흩날리는 숲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수관 오른쪽이 열리며 점이 바람에 날리듯 흩어집니다.</a:t>
            </a:r>
            <a:endParaRPr lang="en-US" sz="1200" dirty="0"/>
          </a:p>
        </p:txBody>
      </p:sp>
      <p:pic>
        <p:nvPicPr>
          <p:cNvPr id="4" name="B green" descr="/tmp/claude-0/-home-user-otterlee/54e04198-701a-58c9-b487-eea2ac6d4846/scratchpad/out/B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B white" descr="/tmp/claude-0/-home-user-otterlee/54e04198-701a-58c9-b487-eea2ac6d4846/scratchpad/out/B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B lockup" descr="/tmp/claude-0/-home-user-otterlee/54e04198-701a-58c9-b487-eea2ac6d4846/scratchpad/out/B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B size0" descr="/tmp/claude-0/-home-user-otterlee/54e04198-701a-58c9-b487-eea2ac6d4846/scratchpad/out/B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B size1" descr="/tmp/claude-0/-home-user-otterlee/54e04198-701a-58c9-b487-eea2ac6d4846/scratchpad/out/B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B size2" descr="/tmp/claude-0/-home-user-otterlee/54e04198-701a-58c9-b487-eea2ac6d4846/scratchpad/out/B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움직임과 확산의 느낌. 점이 퍼져가는 캠페인의 성격과 맞습니다.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C — 나무와 숲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큰 나무 한 그루와 이웃한 나무들이 어우러진 작은 숲.</a:t>
            </a:r>
            <a:endParaRPr lang="en-US" sz="1200" dirty="0"/>
          </a:p>
        </p:txBody>
      </p:sp>
      <p:pic>
        <p:nvPicPr>
          <p:cNvPr id="4" name="C green" descr="/tmp/claude-0/-home-user-otterlee/54e04198-701a-58c9-b487-eea2ac6d4846/scratchpad/out/C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C white" descr="/tmp/claude-0/-home-user-otterlee/54e04198-701a-58c9-b487-eea2ac6d4846/scratchpad/out/C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C lockup" descr="/tmp/claude-0/-home-user-otterlee/54e04198-701a-58c9-b487-eea2ac6d4846/scratchpad/out/C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C size0" descr="/tmp/claude-0/-home-user-otterlee/54e04198-701a-58c9-b487-eea2ac6d4846/scratchpad/out/C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C size1" descr="/tmp/claude-0/-home-user-otterlee/54e04198-701a-58c9-b487-eea2ac6d4846/scratchpad/out/C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C size2" descr="/tmp/claude-0/-home-user-otterlee/54e04198-701a-58c9-b487-eea2ac6d4846/scratchpad/out/C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“나무에서 숲으로”라는 서사를 한 심볼에 담습니다. 가장 복잡합니다.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D — 자라는 나무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아래는 큰 점, 위로 갈수록 작은 점. 아래에서 위로 자라는 흐름.</a:t>
            </a:r>
            <a:endParaRPr lang="en-US" sz="1200" dirty="0"/>
          </a:p>
        </p:txBody>
      </p:sp>
      <p:pic>
        <p:nvPicPr>
          <p:cNvPr id="4" name="D green" descr="/tmp/claude-0/-home-user-otterlee/54e04198-701a-58c9-b487-eea2ac6d4846/scratchpad/out/D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D white" descr="/tmp/claude-0/-home-user-otterlee/54e04198-701a-58c9-b487-eea2ac6d4846/scratchpad/out/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D lockup" descr="/tmp/claude-0/-home-user-otterlee/54e04198-701a-58c9-b487-eea2ac6d4846/scratchpad/out/D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D size0" descr="/tmp/claude-0/-home-user-otterlee/54e04198-701a-58c9-b487-eea2ac6d4846/scratchpad/out/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D size1" descr="/tmp/claude-0/-home-user-otterlee/54e04198-701a-58c9-b487-eea2ac6d4846/scratchpad/out/D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D size2" descr="/tmp/claude-0/-home-user-otterlee/54e04198-701a-58c9-b487-eea2ac6d4846/scratchpad/out/D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성장의 방향성이 보입니다. 수관이 풍선처럼 읽힐 수 있어 확인이 필요합니다.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E — 아카시아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잠비아 사바나의 납작한 우산형 수관.</a:t>
            </a:r>
            <a:endParaRPr lang="en-US" sz="1200" dirty="0"/>
          </a:p>
        </p:txBody>
      </p:sp>
      <p:pic>
        <p:nvPicPr>
          <p:cNvPr id="4" name="E green" descr="/tmp/claude-0/-home-user-otterlee/54e04198-701a-58c9-b487-eea2ac6d4846/scratchpad/out/E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E white" descr="/tmp/claude-0/-home-user-otterlee/54e04198-701a-58c9-b487-eea2ac6d4846/scratchpad/out/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E lockup" descr="/tmp/claude-0/-home-user-otterlee/54e04198-701a-58c9-b487-eea2ac6d4846/scratchpad/out/E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E size0" descr="/tmp/claude-0/-home-user-otterlee/54e04198-701a-58c9-b487-eea2ac6d4846/scratchpad/out/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E size1" descr="/tmp/claude-0/-home-user-otterlee/54e04198-701a-58c9-b487-eea2ac6d4846/scratchpad/out/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E size2" descr="/tmp/claude-0/-home-user-otterlee/54e04198-701a-58c9-b487-eea2ac6d4846/scratchpad/out/E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잠비아다운 고유한 실루엣. 다른 안보다 가로로 넓습니다.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000" dirty="0"/>
          </a:p>
        </p:txBody>
      </p:sp>
      <p:sp>
        <p:nvSpPr>
          <p:cNvPr id="3" name="num 1"/>
          <p:cNvSpPr/>
          <p:nvPr/>
        </p:nvSpPr>
        <p:spPr>
          <a:xfrm>
            <a:off x="457200" y="109728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0972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마음에 드는 안 1~2개를 골라 주세요 (섞어 쓰기도 가능합니다)</a:t>
            </a:r>
            <a:endParaRPr lang="en-US" sz="1500" dirty="0"/>
          </a:p>
        </p:txBody>
      </p:sp>
      <p:sp>
        <p:nvSpPr>
          <p:cNvPr id="6" name="num 2"/>
          <p:cNvSpPr/>
          <p:nvPr/>
        </p:nvSpPr>
        <p:spPr>
          <a:xfrm>
            <a:off x="457200" y="210312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03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선택한 안은 점 배치를 다듬어 가로형·세로형·심볼 단독·영문형으로 확장합니다</a:t>
            </a:r>
            <a:endParaRPr lang="en-US" sz="1500" dirty="0"/>
          </a:p>
        </p:txBody>
      </p:sp>
      <p:sp>
        <p:nvSpPr>
          <p:cNvPr id="9" name="num 3"/>
          <p:cNvSpPr/>
          <p:nvPr/>
        </p:nvSpPr>
        <p:spPr>
          <a:xfrm>
            <a:off x="457200" y="310896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1089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크기에서 점이 뭉개지는지 다시 확인합니다 (심볼 10mm / 32px)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잠비아 나무심기 BI 심볼 변형안</dc:title>
  <dc:subject>PptxGenJS Presentation</dc:subject>
  <dc:creator>PptxGenJS</dc:creator>
  <cp:lastModifiedBy>PptxGenJS</cp:lastModifiedBy>
  <cp:revision>1</cp:revision>
  <dcterms:created xsi:type="dcterms:W3CDTF">2026-10-07T13:23:01Z</dcterms:created>
  <dcterms:modified xsi:type="dcterms:W3CDTF">2026-10-07T13:23:01Z</dcterms:modified>
</cp:coreProperties>
</file>